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Noto Serif HK SemiBold" panose="020B0604020202020204" charset="-128"/>
      <p:regular r:id="rId13"/>
    </p:embeddedFont>
    <p:embeddedFont>
      <p:font typeface="Source Sans 3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121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hmedmohamedibrahim1/sales-datase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84237"/>
            <a:ext cx="790121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Sales Performance &amp; Profitability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423467"/>
            <a:ext cx="8096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2014–2017 · Executive Business Intelligence Review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Tools Used: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2238747"/>
            <a:ext cx="8096845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DAX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Visualization</a:t>
            </a:r>
            <a:endParaRPr lang="en-US" sz="11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Analytics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3577" y="3521497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Dataset: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u="sng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https://www.kaggle.com/datasets/ahmedmohamedibrahim1/sales-dataset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3577" y="4173289"/>
            <a:ext cx="1380679" cy="281136"/>
          </a:xfrm>
          <a:prstGeom prst="roundRect">
            <a:avLst>
              <a:gd name="adj" fmla="val 17881"/>
            </a:avLst>
          </a:prstGeom>
          <a:solidFill>
            <a:srgbClr val="F9D2EB"/>
          </a:solidFill>
          <a:ln/>
        </p:spPr>
      </p:sp>
      <p:sp>
        <p:nvSpPr>
          <p:cNvPr id="7" name="Text 5"/>
          <p:cNvSpPr/>
          <p:nvPr/>
        </p:nvSpPr>
        <p:spPr>
          <a:xfrm>
            <a:off x="613321" y="4218161"/>
            <a:ext cx="165839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DATA-DRIVEN STRATEGY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79042" y="4168527"/>
            <a:ext cx="1707654" cy="290661"/>
          </a:xfrm>
          <a:prstGeom prst="roundRect">
            <a:avLst>
              <a:gd name="adj" fmla="val 17295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3548" y="4218161"/>
            <a:ext cx="197584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PERFORMANCE INTELLIGENCE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4E4F5-9FE8-380A-1BCE-8DD70E2D02BE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660" y="359941"/>
            <a:ext cx="1359396" cy="212899"/>
          </a:xfrm>
          <a:prstGeom prst="roundRect">
            <a:avLst>
              <a:gd name="adj" fmla="val 18447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1520" y="399752"/>
            <a:ext cx="1666875" cy="133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70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1 · EXECUTIVE 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76660" y="609302"/>
            <a:ext cx="5831309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How Did the Business Perform Overall?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76660" y="1090017"/>
            <a:ext cx="7590606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four years, the business generated strong revenue, maintained healthy profitability, and served a substantial customer base — establishing a solid foundation for continued growth.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6660" y="1584201"/>
            <a:ext cx="373826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$2.30M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58206" y="2096765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6660" y="2323430"/>
            <a:ext cx="373826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generated across all years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29001" y="1584201"/>
            <a:ext cx="373826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$286.4K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810548" y="2096765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29001" y="2323430"/>
            <a:ext cx="373826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Net profit accumulated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6660" y="2730996"/>
            <a:ext cx="373826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12.47%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58206" y="3243560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6660" y="3470225"/>
            <a:ext cx="373826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Overall margin efficiency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29001" y="2730996"/>
            <a:ext cx="373826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5K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810548" y="3243560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29001" y="3470225"/>
            <a:ext cx="373826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Transactions processed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6660" y="3877791"/>
            <a:ext cx="373826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38K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958206" y="4390355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Units Sold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6660" y="4617021"/>
            <a:ext cx="373826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quantity across categories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9001" y="3877791"/>
            <a:ext cx="3738265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15.62%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810548" y="4390355"/>
            <a:ext cx="1375097" cy="171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Avg Discount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29001" y="4617021"/>
            <a:ext cx="3738265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9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Mean discount applied per order</a:t>
            </a:r>
            <a:endParaRPr lang="en-US" sz="9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6395F0-D656-EFE9-2AAD-D70BE9D01F37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04676"/>
            <a:ext cx="1743298" cy="290661"/>
          </a:xfrm>
          <a:prstGeom prst="roundRect">
            <a:avLst>
              <a:gd name="adj" fmla="val 17295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8083" y="554310"/>
            <a:ext cx="2011487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2 · SALES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55166"/>
            <a:ext cx="71462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How Has Revenue Evolved Over Time?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87785"/>
            <a:ext cx="3865959" cy="2782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9226" y="1669107"/>
            <a:ext cx="253759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Steady Revenue Growth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9226" y="2038648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Sales increased consistently year-over-year, reflecting successful market expansion and growing customer demand. </a:t>
            </a:r>
            <a:r>
              <a:rPr lang="en-US" sz="11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2017 delivered the strongest performance</a:t>
            </a: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reaching the peak of the four-year period.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9226" y="3164458"/>
            <a:ext cx="3865959" cy="1114499"/>
          </a:xfrm>
          <a:prstGeom prst="roundRect">
            <a:avLst>
              <a:gd name="adj" fmla="val 5638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798" y="3382417"/>
            <a:ext cx="187003" cy="1495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45373" y="3351386"/>
            <a:ext cx="323024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Takeaway: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business achieved its strongest sales performance in 2017, demonstrating sustained momentum.</a:t>
            </a:r>
            <a:endParaRPr lang="en-US" sz="11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24A31C-0ABF-E56C-0762-7FAF4B634DC3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504676"/>
            <a:ext cx="1799258" cy="290661"/>
          </a:xfrm>
          <a:prstGeom prst="roundRect">
            <a:avLst>
              <a:gd name="adj" fmla="val 17295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18083" y="554310"/>
            <a:ext cx="2067446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3 · PROFIT PERFORMANCE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577" y="855166"/>
            <a:ext cx="795932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Is Revenue Growth Translating Into Profit?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687785"/>
            <a:ext cx="3865959" cy="2782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9226" y="1669107"/>
            <a:ext cx="336388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Healthy Profitability Throughout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9226" y="2038648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Despite periodic fluctuations, profitability remained consistently positive and trended upward alongside revenue growth. Seasonal patterns are evident, with peaks typically occurring in mid-year periods.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9226" y="3164458"/>
            <a:ext cx="3865959" cy="1114499"/>
          </a:xfrm>
          <a:prstGeom prst="roundRect">
            <a:avLst>
              <a:gd name="adj" fmla="val 5638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798" y="3382417"/>
            <a:ext cx="187003" cy="1495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45373" y="3351386"/>
            <a:ext cx="323024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Takeaway:</a:t>
            </a: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company maintained healthy profitability while scaling sales operations across all four years.</a:t>
            </a:r>
            <a:endParaRPr lang="en-US" sz="11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4DFF4D-F9C9-913F-FC06-1BE90F67782F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724" y="389632"/>
            <a:ext cx="1794123" cy="261938"/>
          </a:xfrm>
          <a:prstGeom prst="roundRect">
            <a:avLst>
              <a:gd name="adj" fmla="val 17692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235" y="435769"/>
            <a:ext cx="207630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4 · REGIONAL PERFORMANCE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2724" y="702394"/>
            <a:ext cx="6853684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Which Regions Drive Business Success?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24" y="1441772"/>
            <a:ext cx="3921026" cy="28223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5013" y="1425848"/>
            <a:ext cx="340965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Concentrated Regional Performance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745013" y="1755800"/>
            <a:ext cx="3921026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Revenue generation is heavily concentrated in the </a:t>
            </a:r>
            <a:r>
              <a:rPr lang="en-US" sz="10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West and East regions</a:t>
            </a: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which together account for the majority of total sales. The South region remains significantly underdeveloped.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5013" y="2505968"/>
            <a:ext cx="3921026" cy="981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West:</a:t>
            </a: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Largest revenue contributor</a:t>
            </a:r>
            <a:endParaRPr lang="en-US" sz="105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East:</a:t>
            </a: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Strong secondary market</a:t>
            </a:r>
            <a:endParaRPr lang="en-US" sz="105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Central:</a:t>
            </a: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Moderate performance</a:t>
            </a:r>
            <a:endParaRPr lang="en-US" sz="1050" dirty="0"/>
          </a:p>
          <a:p>
            <a:pPr marL="342900" indent="-342900" algn="l">
              <a:lnSpc>
                <a:spcPct val="128000"/>
              </a:lnSpc>
              <a:buSzPct val="100000"/>
              <a:buChar char="•"/>
            </a:pPr>
            <a:r>
              <a:rPr lang="en-US" sz="105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South:</a:t>
            </a:r>
            <a:r>
              <a:rPr lang="en-US" sz="10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Untapped growth potential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45013" y="3630216"/>
            <a:ext cx="3921026" cy="980629"/>
          </a:xfrm>
          <a:prstGeom prst="roundRect">
            <a:avLst>
              <a:gd name="adj" fmla="val 5907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902" y="3829496"/>
            <a:ext cx="172343" cy="13788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3134" y="3791769"/>
            <a:ext cx="3335015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Insight:</a:t>
            </a:r>
            <a:r>
              <a:rPr lang="en-US" sz="10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Regional diversification can reduce dependency on top-performing markets and unlock new revenue streams.</a:t>
            </a:r>
            <a:endParaRPr lang="en-US" sz="10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C2BD86-EC47-E348-5C8C-49BEBCCEFC6C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53" y="585118"/>
            <a:ext cx="1715914" cy="250701"/>
          </a:xfrm>
          <a:prstGeom prst="roundRect">
            <a:avLst>
              <a:gd name="adj" fmla="val 17859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1036" y="629841"/>
            <a:ext cx="2003747" cy="161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0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5 · PRODUCT PERFORMANCE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6353" y="883221"/>
            <a:ext cx="8571086" cy="391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Which Product Categories Generate the Most Value?</a:t>
            </a:r>
            <a:endParaRPr lang="en-US" sz="2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53" y="1586582"/>
            <a:ext cx="3943127" cy="28382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9283" y="1571699"/>
            <a:ext cx="2853556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Technology Leads Profitability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39283" y="1886248"/>
            <a:ext cx="3943127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</a:t>
            </a: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is the dominant profit driver, contributing the highest profitability across all categories. </a:t>
            </a:r>
            <a:r>
              <a:rPr lang="en-US" sz="10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Office Supplies</a:t>
            </a: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delivers solid mid-tier returns. </a:t>
            </a:r>
            <a:r>
              <a:rPr lang="en-US" sz="10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Furniture</a:t>
            </a: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generates revenue but contributes significantly less profit relative to its sales volume.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39283" y="2799085"/>
            <a:ext cx="3943127" cy="687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Technology:</a:t>
            </a: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Primary profit engine</a:t>
            </a:r>
            <a:endParaRPr lang="en-US" sz="10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Office Supplies:</a:t>
            </a: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Consistent contributor</a:t>
            </a:r>
            <a:endParaRPr lang="en-US" sz="10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000" b="1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Furniture:</a:t>
            </a:r>
            <a:r>
              <a:rPr lang="en-US" sz="10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Margin improvement needed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39283" y="3620170"/>
            <a:ext cx="3943127" cy="728290"/>
          </a:xfrm>
          <a:prstGeom prst="roundRect">
            <a:avLst>
              <a:gd name="adj" fmla="val 7684"/>
            </a:avLst>
          </a:prstGeom>
          <a:solidFill>
            <a:srgbClr val="B6D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484" y="3812902"/>
            <a:ext cx="166539" cy="1332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72224" y="3772049"/>
            <a:ext cx="3376985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Takeaway:</a:t>
            </a: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Not all sales generate equal business value — category-level margin analysis is essential.</a:t>
            </a:r>
            <a:endParaRPr lang="en-US" sz="1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AA20B9-227A-EB20-2720-D4B5FF1B60C2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953" y="358676"/>
            <a:ext cx="1570732" cy="228749"/>
          </a:xfrm>
          <a:prstGeom prst="roundRect">
            <a:avLst>
              <a:gd name="adj" fmla="val 18199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7980" y="400571"/>
            <a:ext cx="1869877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5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6 · CONNECTING THE STORY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48953" y="628427"/>
            <a:ext cx="6491139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From Revenue to Business Value Creation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548953" y="1146721"/>
            <a:ext cx="85032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 success follows a clear value chain — from top-line sales growth through to product-level profitability and regional contribution.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484" y="1443335"/>
            <a:ext cx="6257032" cy="28636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34501" y="3527228"/>
            <a:ext cx="1174696" cy="42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Product Profitability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062" y="3527228"/>
            <a:ext cx="1174696" cy="425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Regional Contribution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81669" y="3633585"/>
            <a:ext cx="1174696" cy="212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Profit Growth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777092" y="3633585"/>
            <a:ext cx="1174696" cy="212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Sales Growth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953" y="4422353"/>
            <a:ext cx="80460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Strong sales growth is underpinned by profitable product categories — led by Technology — and concentrated regional performance in the West and East. Understanding each link in this chain enables targeted strategic decisions.</a:t>
            </a:r>
            <a:endParaRPr lang="en-US" sz="9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B88C74-6B05-3005-C63C-B40DBBA436AD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9095" y="433611"/>
            <a:ext cx="1777529" cy="273174"/>
          </a:xfrm>
          <a:prstGeom prst="roundRect">
            <a:avLst>
              <a:gd name="adj" fmla="val 17540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9359" y="481087"/>
            <a:ext cx="2054200" cy="178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7 · KEY BUSINESS INSIGHTS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9095" y="761107"/>
            <a:ext cx="6923856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Five Insights That Define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99095" y="1384325"/>
            <a:ext cx="2624658" cy="1594842"/>
          </a:xfrm>
          <a:prstGeom prst="roundRect">
            <a:avLst>
              <a:gd name="adj" fmla="val 3755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6435" y="1531665"/>
            <a:ext cx="427732" cy="427732"/>
          </a:xfrm>
          <a:prstGeom prst="roundRect">
            <a:avLst>
              <a:gd name="adj" fmla="val 13359834"/>
            </a:avLst>
          </a:prstGeom>
          <a:solidFill>
            <a:srgbClr val="E851B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009" y="1649239"/>
            <a:ext cx="192509" cy="1925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6435" y="2095277"/>
            <a:ext cx="1754163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$2.30M in Total Sales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6435" y="2386385"/>
            <a:ext cx="2329979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Generated $286.4K profit at a 12.47% margin across 5K orders.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59634" y="1384325"/>
            <a:ext cx="2624658" cy="1594842"/>
          </a:xfrm>
          <a:prstGeom prst="roundRect">
            <a:avLst>
              <a:gd name="adj" fmla="val 3755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06973" y="1531665"/>
            <a:ext cx="427732" cy="427732"/>
          </a:xfrm>
          <a:prstGeom prst="roundRect">
            <a:avLst>
              <a:gd name="adj" fmla="val 13359834"/>
            </a:avLst>
          </a:prstGeom>
          <a:solidFill>
            <a:srgbClr val="E851B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4548" y="1649239"/>
            <a:ext cx="192509" cy="1925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6973" y="2095277"/>
            <a:ext cx="1964308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2017 Peak Performance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06973" y="2386385"/>
            <a:ext cx="2329979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strongest sales year, capping four years of consistent revenue growth.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20172" y="1384325"/>
            <a:ext cx="2624658" cy="1594842"/>
          </a:xfrm>
          <a:prstGeom prst="roundRect">
            <a:avLst>
              <a:gd name="adj" fmla="val 3755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67512" y="1531665"/>
            <a:ext cx="427732" cy="427732"/>
          </a:xfrm>
          <a:prstGeom prst="roundRect">
            <a:avLst>
              <a:gd name="adj" fmla="val 13359834"/>
            </a:avLst>
          </a:prstGeom>
          <a:solidFill>
            <a:srgbClr val="E851B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5086" y="1649239"/>
            <a:ext cx="192509" cy="19250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7512" y="2095277"/>
            <a:ext cx="2041624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West Region Dominance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167512" y="2386385"/>
            <a:ext cx="2329979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largest revenue contributor, with East as a strong secondary market.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9095" y="3115047"/>
            <a:ext cx="4004890" cy="1594842"/>
          </a:xfrm>
          <a:prstGeom prst="roundRect">
            <a:avLst>
              <a:gd name="adj" fmla="val 3755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435" y="3262387"/>
            <a:ext cx="427732" cy="427732"/>
          </a:xfrm>
          <a:prstGeom prst="roundRect">
            <a:avLst>
              <a:gd name="adj" fmla="val 13359834"/>
            </a:avLst>
          </a:prstGeom>
          <a:solidFill>
            <a:srgbClr val="E851B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4009" y="3379961"/>
            <a:ext cx="192509" cy="19250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6435" y="3825999"/>
            <a:ext cx="202555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Technology Leads Profit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6435" y="4117107"/>
            <a:ext cx="3710211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highest-profit category and primary driver of overall business value.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639866" y="3115047"/>
            <a:ext cx="4004965" cy="1594842"/>
          </a:xfrm>
          <a:prstGeom prst="roundRect">
            <a:avLst>
              <a:gd name="adj" fmla="val 3755"/>
            </a:avLst>
          </a:prstGeom>
          <a:solidFill>
            <a:srgbClr val="F9D2EB"/>
          </a:solidFill>
          <a:ln w="4763">
            <a:solidFill>
              <a:srgbClr val="DFB8D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787205" y="3262387"/>
            <a:ext cx="427732" cy="427732"/>
          </a:xfrm>
          <a:prstGeom prst="roundRect">
            <a:avLst>
              <a:gd name="adj" fmla="val 13359834"/>
            </a:avLst>
          </a:prstGeom>
          <a:solidFill>
            <a:srgbClr val="E851B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04780" y="3379961"/>
            <a:ext cx="192509" cy="19250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87205" y="3825999"/>
            <a:ext cx="1741066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15.62% Avg Discount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787205" y="4117107"/>
            <a:ext cx="3710285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Supports sales volume but may constrain overall margin efficiency.</a:t>
            </a:r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828856-E868-BC8A-1AAF-01D2DC219A5F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2562" y="327868"/>
            <a:ext cx="1727522" cy="207466"/>
          </a:xfrm>
          <a:prstGeom prst="roundRect">
            <a:avLst>
              <a:gd name="adj" fmla="val 18551"/>
            </a:avLst>
          </a:prstGeom>
          <a:noFill/>
          <a:ln w="4763">
            <a:solidFill>
              <a:srgbClr val="E85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6009" y="366936"/>
            <a:ext cx="2037829" cy="12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E851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SLIDE 8 · STRATEGIC RECOMMENDATIONS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52562" y="570384"/>
            <a:ext cx="5281240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What Should Management Do Next?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62" y="1137345"/>
            <a:ext cx="3579688" cy="3579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16363" y="2080096"/>
            <a:ext cx="2221632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A Focused Growth Agenda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16363" y="2336155"/>
            <a:ext cx="3579688" cy="485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Management should prioritize high-margin categories, optimize promotional spend, and activate underperforming regions to unlock the next phase of profitable growth.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16363" y="2900139"/>
            <a:ext cx="3579688" cy="931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Replicate winning regional strategies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Deepen Technology category investment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Rationalize discount structures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Address Furniture margin gaps</a:t>
            </a:r>
            <a:endParaRPr lang="en-US" sz="90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 South and Central markets</a:t>
            </a:r>
            <a:endParaRPr lang="en-US" sz="9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E3E172-0888-2951-9550-0FB38CD6DB26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9855" y="282327"/>
            <a:ext cx="6224290" cy="35283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59855" y="3902720"/>
            <a:ext cx="2712393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71A2D"/>
                </a:solidFill>
                <a:latin typeface="Noto Serif HK SemiBold" pitchFamily="34" charset="0"/>
                <a:ea typeface="Noto Serif HK SemiBold" pitchFamily="34" charset="-122"/>
                <a:cs typeface="Noto Serif HK SemiBold" pitchFamily="34" charset="-120"/>
              </a:rPr>
              <a:t>Conclusion</a:t>
            </a: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1459855" y="4276651"/>
            <a:ext cx="6224290" cy="25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2014–2017 analysis demonstrates that business growth is driven by strong sales performance, profitable product categories, and high-performing regions. Interactive dashboarding enables stakeholders to monitor performance, identify opportunities, and make data-driven decisions with confidence.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1603623" y="4666283"/>
            <a:ext cx="6537722" cy="12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50" dirty="0">
                <a:solidFill>
                  <a:srgbClr val="4323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"Transforming sales data into actionable business intelligence for smarter business decisions."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1459855" y="4597226"/>
            <a:ext cx="14288" cy="263872"/>
          </a:xfrm>
          <a:prstGeom prst="rect">
            <a:avLst/>
          </a:prstGeom>
          <a:solidFill>
            <a:srgbClr val="E851B2"/>
          </a:solidFill>
          <a:ln/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999E9-385F-90CF-D924-3DDEAE66027E}"/>
              </a:ext>
            </a:extLst>
          </p:cNvPr>
          <p:cNvSpPr/>
          <p:nvPr/>
        </p:nvSpPr>
        <p:spPr>
          <a:xfrm>
            <a:off x="0" y="4822613"/>
            <a:ext cx="9144000" cy="259247"/>
          </a:xfrm>
          <a:prstGeom prst="rect">
            <a:avLst/>
          </a:prstGeom>
          <a:solidFill>
            <a:srgbClr val="FE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694</Words>
  <Application>Microsoft Office PowerPoint</Application>
  <PresentationFormat>On-screen Show (16:9)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Noto Serif HK SemiBold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dhruvaa vermani</dc:creator>
  <cp:lastModifiedBy>dhruvaa vermani</cp:lastModifiedBy>
  <cp:revision>2</cp:revision>
  <dcterms:created xsi:type="dcterms:W3CDTF">2026-06-04T17:32:49Z</dcterms:created>
  <dcterms:modified xsi:type="dcterms:W3CDTF">2026-06-04T17:40:39Z</dcterms:modified>
</cp:coreProperties>
</file>